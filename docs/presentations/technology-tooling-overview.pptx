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6ee97565ff4b93" /><Relationship Type="http://schemas.openxmlformats.org/officeDocument/2006/relationships/extended-properties" Target="/docProps/app.xml" Id="R75ebf412823e4684" /><Relationship Type="http://schemas.openxmlformats.org/officeDocument/2006/relationships/officeDocument" Target="/ppt/presentation.xml" Id="R6990b2ff9cb041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5fe9d4aef415b"/>
  </p:sldMasterIdLst>
  <p:notesMasterIdLst>
    <p:notesMasterId xmlns:r="http://schemas.openxmlformats.org/officeDocument/2006/relationships" r:id="Rdb37ae37aa0d438a"/>
  </p:notesMasterIdLst>
  <p:sldIdLst>
    <p:sldId xmlns:r="http://schemas.openxmlformats.org/officeDocument/2006/relationships" id="256" r:id="Rcbfb4fef4ddc4754"/>
    <p:sldId xmlns:r="http://schemas.openxmlformats.org/officeDocument/2006/relationships" id="257" r:id="R33e23c9798064b49"/>
    <p:sldId xmlns:r="http://schemas.openxmlformats.org/officeDocument/2006/relationships" id="258" r:id="Rbaa1172d027d4648"/>
    <p:sldId xmlns:r="http://schemas.openxmlformats.org/officeDocument/2006/relationships" id="259" r:id="R8f3d860d5f4247e1"/>
    <p:sldId xmlns:r="http://schemas.openxmlformats.org/officeDocument/2006/relationships" id="260" r:id="R29fc4df2ae7e4e8b"/>
    <p:sldId xmlns:r="http://schemas.openxmlformats.org/officeDocument/2006/relationships" id="261" r:id="R1ce1db10fe104082"/>
    <p:sldId xmlns:r="http://schemas.openxmlformats.org/officeDocument/2006/relationships" id="262" r:id="Rd7acec1a5bd444f8"/>
    <p:sldId xmlns:r="http://schemas.openxmlformats.org/officeDocument/2006/relationships" id="263" r:id="Rc5d6b4b2868041d1"/>
    <p:sldId xmlns:r="http://schemas.openxmlformats.org/officeDocument/2006/relationships" id="264" r:id="R79b9bc0a67d7442c"/>
    <p:sldId xmlns:r="http://schemas.openxmlformats.org/officeDocument/2006/relationships" id="265" r:id="R9c521f435528416e"/>
    <p:sldId xmlns:r="http://schemas.openxmlformats.org/officeDocument/2006/relationships" id="266" r:id="R91b8b3791bc94a58"/>
    <p:sldId xmlns:r="http://schemas.openxmlformats.org/officeDocument/2006/relationships" id="267" r:id="R13bc0302f0ae43c6"/>
    <p:sldId xmlns:r="http://schemas.openxmlformats.org/officeDocument/2006/relationships" id="268" r:id="R16c0d556ddff4a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e2d295953a440f" /><Relationship Type="http://schemas.openxmlformats.org/officeDocument/2006/relationships/slideMaster" Target="/ppt/slideMasters/slideMaster1.xml" Id="R7075fe9d4aef415b" /><Relationship Type="http://schemas.openxmlformats.org/officeDocument/2006/relationships/notesMaster" Target="/ppt/notesMasters/notesMaster1.xml" Id="Rdb37ae37aa0d438a" /><Relationship Type="http://schemas.openxmlformats.org/officeDocument/2006/relationships/presProps" Target="/ppt/presProps.xml" Id="Ra3ba1af37b1146da" /><Relationship Type="http://schemas.openxmlformats.org/officeDocument/2006/relationships/tableStyles" Target="/ppt/tableStyles.xml" Id="R81afe126d4ea4c7c" /><Relationship Type="http://schemas.openxmlformats.org/officeDocument/2006/relationships/slide" Target="/ppt/slides/slide1.xml" Id="Rcbfb4fef4ddc4754" /><Relationship Type="http://schemas.openxmlformats.org/officeDocument/2006/relationships/slide" Target="/ppt/slides/slide2.xml" Id="R33e23c9798064b49" /><Relationship Type="http://schemas.openxmlformats.org/officeDocument/2006/relationships/slide" Target="/ppt/slides/slide3.xml" Id="Rbaa1172d027d4648" /><Relationship Type="http://schemas.openxmlformats.org/officeDocument/2006/relationships/slide" Target="/ppt/slides/slide4.xml" Id="R8f3d860d5f4247e1" /><Relationship Type="http://schemas.openxmlformats.org/officeDocument/2006/relationships/slide" Target="/ppt/slides/slide5.xml" Id="R29fc4df2ae7e4e8b" /><Relationship Type="http://schemas.openxmlformats.org/officeDocument/2006/relationships/slide" Target="/ppt/slides/slide6.xml" Id="R1ce1db10fe104082" /><Relationship Type="http://schemas.openxmlformats.org/officeDocument/2006/relationships/slide" Target="/ppt/slides/slide7.xml" Id="Rd7acec1a5bd444f8" /><Relationship Type="http://schemas.openxmlformats.org/officeDocument/2006/relationships/slide" Target="/ppt/slides/slide8.xml" Id="Rc5d6b4b2868041d1" /><Relationship Type="http://schemas.openxmlformats.org/officeDocument/2006/relationships/slide" Target="/ppt/slides/slide9.xml" Id="R79b9bc0a67d7442c" /><Relationship Type="http://schemas.openxmlformats.org/officeDocument/2006/relationships/slide" Target="/ppt/slides/slide10.xml" Id="R9c521f435528416e" /><Relationship Type="http://schemas.openxmlformats.org/officeDocument/2006/relationships/slide" Target="/ppt/slides/slide11.xml" Id="R91b8b3791bc94a58" /><Relationship Type="http://schemas.openxmlformats.org/officeDocument/2006/relationships/slide" Target="/ppt/slides/slide12.xml" Id="R13bc0302f0ae43c6" /><Relationship Type="http://schemas.openxmlformats.org/officeDocument/2006/relationships/slide" Target="/ppt/slides/slide13.xml" Id="R16c0d556ddff4a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c5a9831b8847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49a11403cf440f" /><Relationship Type="http://schemas.openxmlformats.org/officeDocument/2006/relationships/notesMaster" Target="/ppt/notesMasters/notesMaster1.xml" Id="R8e12ab6fedad49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69bbe4da94f7d" /><Relationship Type="http://schemas.openxmlformats.org/officeDocument/2006/relationships/notesMaster" Target="/ppt/notesMasters/notesMaster1.xml" Id="R88d84236a14e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5eab55dcaf45de" /><Relationship Type="http://schemas.openxmlformats.org/officeDocument/2006/relationships/notesMaster" Target="/ppt/notesMasters/notesMaster1.xml" Id="Ra2a178979a4c44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5284a3a844e0c" /><Relationship Type="http://schemas.openxmlformats.org/officeDocument/2006/relationships/notesMaster" Target="/ppt/notesMasters/notesMaster1.xml" Id="R111f637d7a1643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f20f7849d94994" /><Relationship Type="http://schemas.openxmlformats.org/officeDocument/2006/relationships/notesMaster" Target="/ppt/notesMasters/notesMaster1.xml" Id="Rf14307c3ebf240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ba1727b8d44529" /><Relationship Type="http://schemas.openxmlformats.org/officeDocument/2006/relationships/notesMaster" Target="/ppt/notesMasters/notesMaster1.xml" Id="Reafb4edf072147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cec9db4e7049f2" /><Relationship Type="http://schemas.openxmlformats.org/officeDocument/2006/relationships/notesMaster" Target="/ppt/notesMasters/notesMaster1.xml" Id="R0358425db6b445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c515ebdd574a61" /><Relationship Type="http://schemas.openxmlformats.org/officeDocument/2006/relationships/notesMaster" Target="/ppt/notesMasters/notesMaster1.xml" Id="R6fe668cc6aad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74e6ea1a024a71" /><Relationship Type="http://schemas.openxmlformats.org/officeDocument/2006/relationships/notesMaster" Target="/ppt/notesMasters/notesMaster1.xml" Id="R9e1ae49da29e41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dd3cd5b5f4816" /><Relationship Type="http://schemas.openxmlformats.org/officeDocument/2006/relationships/notesMaster" Target="/ppt/notesMasters/notesMaster1.xml" Id="R1859e3d994da4b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5d343c8186499f" /><Relationship Type="http://schemas.openxmlformats.org/officeDocument/2006/relationships/notesMaster" Target="/ppt/notesMasters/notesMaster1.xml" Id="R25f22a3af1f14d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646583489a444d" /><Relationship Type="http://schemas.openxmlformats.org/officeDocument/2006/relationships/notesMaster" Target="/ppt/notesMasters/notesMaster1.xml" Id="Ra586d7047b7943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d0abc1cc714c13" /><Relationship Type="http://schemas.openxmlformats.org/officeDocument/2006/relationships/notesMaster" Target="/ppt/notesMasters/notesMaster1.xml" Id="Rbb63d0b6309b45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Quellenübersichten aus den vom Nutzer bereitgestellten Manus-Interviews. Keine Aussage über die tatsächliche interne Manus-Runtime. Stand 21.10.2026.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docs/tutorials/manus-development-workflow.md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Skill agentic-project-delivery ist im Repository abgelegt, aber nicht global installiert. Die Rundengrenze ist eine Agentenanweisung, keine technische Sandbox.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skills/agentic-project-delivery/SKILL.md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Black und mypy haben optionale GitHub-Installer. Andere Projekte sind Referenzen oder bereits vorhandene Bausteine; die Auflistung installiert sie nicht. Ruff-Linting kann Black ergänzen, konkurrierende Formatierer vermeiden.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docs/tutorials/manus-development-sources.md</a:t>
            </a:r>
          </a:p>
          <a:p xmlns:a="http://schemas.openxmlformats.org/drawingml/2006/main">
            <a:r>
              <a:t>docs/tools/dev-quality.md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Kein Compiler wird hier installiert. Compilerfamilie, ABI, Architektur und Abhängigkeiten projektspezifisch prüfen. Cargo-Buildscripts und prozedurale Makros können Code ausführen.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docs/tutorials/manus-language-infrastructure-sources.md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bash -x führt Skripte aus und kann Secrets loggen. EXPLAIN ANALYZE führt SQL tatsächlich aus. Terraform plan/test und serverseitiger Kubernetes-Dry-Run sind nicht generell offline oder nebenwirkungsfrei.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docs/tutorials/manus-language-infrastructure-sources.md</a:t>
            </a:r>
          </a:p>
          <a:p xmlns:a="http://schemas.openxmlformats.org/drawingml/2006/main">
            <a:r>
              <a:t>https://www.postgresql.org/docs/current/sql-explain.html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vollständige Workflow enthält SHA-gepinnte Actions, keine gespeicherten Checkout-Credentials und ein Projektlayout mit ./cmd/server. Race-Tests benötigen einen passenden Compiler. Kein Live-CI-Lauf ausgeführt.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examples/manus-ci-cd/go-ci.yml.example</a:t>
            </a:r>
          </a:p>
          <a:p xmlns:a="http://schemas.openxmlformats.org/drawingml/2006/main">
            <a:r>
              <a:t>https://docs.github.com/en/actions/tutorials/build-and-test-code/go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x.y.z beschreibt das Format und ist kein gültiger Versionswert. Das konkrete Projekt setzt eine geprüfte numerische Version ein. --locked verhindert Lockfile-Änderungen, nicht Netzwerk oder Codeausführung. Der Workflow erwartet ein Binary namens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examples/manus-ci-cd/rust-ci.yml.example</a:t>
            </a:r>
          </a:p>
          <a:p xmlns:a="http://schemas.openxmlformats.org/drawingml/2006/main">
            <a:r>
              <a:t>https://github.com/rust-lang/cargo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 release-Environment muss außerhalb des YAML mit echten Schutzregeln konfiguriert werden. environment: release allein erzwingt keine Reviewer. Nur der Publish-Job erhält packages:write. Keine Kubeconfig wird verwendet.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examples/manus-ci-cd/go-release.yml.example</a:t>
            </a:r>
          </a:p>
          <a:p xmlns:a="http://schemas.openxmlformats.org/drawingml/2006/main">
            <a:r>
              <a:t>https://docs.github.com/en/actions/reference/security/secure-use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Nutzerregel bleibt: Tools aus GitHub statt per Docker installieren. Hier ist ein Container nur ein optionales Release-Format eigener Anwendungen. Go ohne CGO ist nicht mit einer dynamisch gelinkten Rust-Binary gleichzusetzen. Docker-Socket nicht an Agenten geben.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examples/manus-ci-cd/Dockerfile.go.example</a:t>
            </a:r>
          </a:p>
          <a:p xmlns:a="http://schemas.openxmlformats.org/drawingml/2006/main">
            <a:r>
              <a:t>https://docs.docker.com/build/building/best-practices/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 Musterimage ist bewusst ungültig und muss ersetzt werden. Ressourcenwerte sind Beispiele. NetworkPolicy benötigt Unterstützung des CNI. /healthz und /readyz müssen existieren; DNS und Datenbankzugriffe bei Bedarf gezielt erlauben. Keine Clusteraktion wurde ausgeführt.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examples/manus-ci-cd/kubernetes.yml.example</a:t>
            </a:r>
          </a:p>
          <a:p xmlns:a="http://schemas.openxmlformats.org/drawingml/2006/main">
            <a:r>
              <a:t>https://kubernetes.io/docs/concepts/security/pod-security-standards/</a:t>
            </a:r>
          </a:p>
          <a:p xmlns:a="http://schemas.openxmlformats.org/drawingml/2006/main">
            <a:r>
              <a:t>https://kubernetes.io/docs/concepts/workloads/pods/probes/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Rollenteilung ist ein Konzept, keine eingerichtete Runtime-Verbindung. Skill-Aktivierung erweitert keine Rechte. WSL-Verbot und separate Freigaben für Paketinstallation, Cloud, Commit/Push und Deployment bleiben wirksam.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skills/agentic-project-delivery/SKILL.md</a:t>
            </a:r>
          </a:p>
          <a:p xmlns:a="http://schemas.openxmlformats.org/drawingml/2006/main">
            <a:r>
              <a:t>docs/tutorials/manus-ci-cd-deployment.md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Quellenkataloge erhalten alte und aktuelle Repository-Ziele. Die alte Playwright GitHub Action ist archiviert; die CLI ist die dokumentierte Alternative. OpenTofu ist eine gesondert zu prüfende MPL-2.0-Alternative zu Terraform. Keine Rechtsberatung oder Lizenzfreigabe.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docs/tutorials/manus-development-sources.md</a:t>
            </a:r>
          </a:p>
          <a:p xmlns:a="http://schemas.openxmlformats.org/drawingml/2006/main">
            <a:r>
              <a:t>docs/tutorials/manus-language-infrastructure-sources.md</a:t>
            </a:r>
          </a:p>
          <a:p xmlns:a="http://schemas.openxmlformats.org/drawingml/2006/main">
            <a:r>
              <a:t>https://github.com/hashicorp/terraform/blob/main/LICENSE</a:t>
            </a:r>
          </a:p>
          <a:p xmlns:a="http://schemas.openxmlformats.org/drawingml/2006/main">
            <a:r>
              <a:t>https://github.com/microsoft/playwright-github-action#readme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Beispiele bleiben unter examples/ inaktiv. Kein automatischer Rollout, keine echten Schlüssel und keine global installierten Skills. Ein GitOps-Merge kann bei aktiviertem Auto-Sync ausrollen; Regeln vorher prüfen.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</a:t>
            </a:r>
          </a:p>
          <a:p xmlns:a="http://schemas.openxmlformats.org/drawingml/2006/main">
            <a:r>
              <a:t>examples/manus-ci-cd/README.md</a:t>
            </a:r>
          </a:p>
          <a:p xmlns:a="http://schemas.openxmlformats.org/drawingml/2006/main">
            <a:r>
              <a:t>docs/tutorials/manus-ci-cd-deployment.md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aecccfa9543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3e4686c794c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4b85cb8b941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4bac82b754b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999e28a7a41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27959329c4a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21135F-CAAD-443C-BB2F-A37D9FFA86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20B34B-93DF-4A10-AF00-E456F94859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FBD8B7-CBF0-4005-A09D-BFFB95C26E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AD2D9D-0F47-4BE7-B863-3589F2143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19F9226-5527-47C9-90FF-C2DB731674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EE99BD-67CD-4539-97AE-56CF8BF8D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E88AE3-F612-47CD-8078-FC573F61AF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09A48F-046C-4A39-9E38-7DCFA87FFF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EED72E-292C-40C2-BB34-6D03D806E0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859780-0AC4-459F-A1A9-1CFA08AF69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11ce07f9b14799" /><Relationship Type="http://schemas.openxmlformats.org/officeDocument/2006/relationships/slideLayout" Target="/ppt/slideLayouts/slideLayout1.xml" Id="R344b9b8f7f074cdf" /><Relationship Type="http://schemas.openxmlformats.org/officeDocument/2006/relationships/slideLayout" Target="/ppt/slideLayouts/slideLayout2.xml" Id="Rc351e5fb89984e63" /><Relationship Type="http://schemas.openxmlformats.org/officeDocument/2006/relationships/slideLayout" Target="/ppt/slideLayouts/slideLayout3.xml" Id="Re9c78cabd93d4269" /><Relationship Type="http://schemas.openxmlformats.org/officeDocument/2006/relationships/slideLayout" Target="/ppt/slideLayouts/slideLayout4.xml" Id="Rc0aefec1c0aa4e4b" /><Relationship Type="http://schemas.openxmlformats.org/officeDocument/2006/relationships/slideLayout" Target="/ppt/slideLayouts/slideLayout5.xml" Id="Ra10bb52e25c045ed" /><Relationship Type="http://schemas.openxmlformats.org/officeDocument/2006/relationships/slideLayout" Target="/ppt/slideLayouts/slideLayout6.xml" Id="R8b93de692cb74e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b9b8f7f074cdf"/>
    <p:sldLayoutId xmlns:r="http://schemas.openxmlformats.org/officeDocument/2006/relationships" id="2147483650" r:id="Rc351e5fb89984e63"/>
    <p:sldLayoutId xmlns:r="http://schemas.openxmlformats.org/officeDocument/2006/relationships" id="2147483651" r:id="Re9c78cabd93d4269"/>
    <p:sldLayoutId xmlns:r="http://schemas.openxmlformats.org/officeDocument/2006/relationships" id="2147483652" r:id="Rc0aefec1c0aa4e4b"/>
    <p:sldLayoutId xmlns:r="http://schemas.openxmlformats.org/officeDocument/2006/relationships" id="2147483653" r:id="Ra10bb52e25c045ed"/>
    <p:sldLayoutId xmlns:r="http://schemas.openxmlformats.org/officeDocument/2006/relationships" id="2147483654" r:id="R8b93de692cb74e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6a6e36ff6942e2" /><Relationship Type="http://schemas.openxmlformats.org/officeDocument/2006/relationships/notesSlide" Target="/ppt/notesSlides/notesSlide1.xml" Id="Rdc82378a94a3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9ed65e62b4306" /><Relationship Type="http://schemas.openxmlformats.org/officeDocument/2006/relationships/notesSlide" Target="/ppt/notesSlides/notesSlide2.xml" Id="R611ac99b28154d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53f2797df4759" /><Relationship Type="http://schemas.openxmlformats.org/officeDocument/2006/relationships/notesSlide" Target="/ppt/notesSlides/notesSlide3.xml" Id="R826834670b95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3bd0932614128" /><Relationship Type="http://schemas.openxmlformats.org/officeDocument/2006/relationships/notesSlide" Target="/ppt/notesSlides/notesSlide4.xml" Id="Re06533033f3f48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7bdefed0646a5" /><Relationship Type="http://schemas.openxmlformats.org/officeDocument/2006/relationships/notesSlide" Target="/ppt/notesSlides/notesSlide5.xml" Id="R07e3836d3faf45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a19479e1349c5" /><Relationship Type="http://schemas.openxmlformats.org/officeDocument/2006/relationships/notesSlide" Target="/ppt/notesSlides/notesSlide6.xml" Id="R3797893874bf45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5f488e68f4bbe" /><Relationship Type="http://schemas.openxmlformats.org/officeDocument/2006/relationships/notesSlide" Target="/ppt/notesSlides/notesSlide7.xml" Id="R4b1e825d12164e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e64d7e63146cd" /><Relationship Type="http://schemas.openxmlformats.org/officeDocument/2006/relationships/notesSlide" Target="/ppt/notesSlides/notesSlide8.xml" Id="R77e17793dcec43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7423ed519d44e2" /><Relationship Type="http://schemas.openxmlformats.org/officeDocument/2006/relationships/notesSlide" Target="/ppt/notesSlides/notesSlide9.xml" Id="Raa7c7118eeda40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aa7e9a7404dc1" /><Relationship Type="http://schemas.openxmlformats.org/officeDocument/2006/relationships/notesSlide" Target="/ppt/notesSlides/notesSlide10.xml" Id="Ra80c2fe00cda4d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e0d34dbbc460a" /><Relationship Type="http://schemas.openxmlformats.org/officeDocument/2006/relationships/notesSlide" Target="/ppt/notesSlides/notesSlide11.xml" Id="R1ee1a5f7ff4540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3ae41d7f646d5" /><Relationship Type="http://schemas.openxmlformats.org/officeDocument/2006/relationships/notesSlide" Target="/ppt/notesSlides/notesSlide12.xml" Id="R594ffe9d525f40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c627205b741e4" /><Relationship Type="http://schemas.openxmlformats.org/officeDocument/2006/relationships/notesSlide" Target="/ppt/notesSlides/notesSlide13.xml" Id="Rab354f9f393e4b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18D97478-6943-4D01-B43F-34A459FC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95375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/>
            </a:defPPr>
          </a:lstStyle>
          <a:p xmlns:a="http://schemas.openxmlformats.org/drawingml/2006/main">
            <a:pPr>
              <a:defRPr sz="6000"/>
            </a:pPr>
            <a:r>
              <a:rPr sz="6000" b="1">
                <a:solidFill>
                  <a:srgbClr val="F6F3EB"/>
                </a:solidFill>
                <a:latin typeface="Cambria"/>
                <a:ea typeface="Cambria"/>
                <a:cs typeface="Cambria"/>
              </a:rPr>
              <a:t>Technologie</a:t>
            </a:r>
            <a:br>
              <a:rPr sz="6000" b="1">
                <a:solidFill>
                  <a:srgbClr val="F6F3EB"/>
                </a:solidFill>
                <a:latin typeface="Cambria"/>
                <a:ea typeface="Cambria"/>
                <a:cs typeface="Cambria"/>
              </a:rPr>
            </a:br>
            <a:r>
              <a:rPr sz="6000" b="1">
                <a:solidFill>
                  <a:srgbClr val="F6F3EB"/>
                </a:solidFill>
                <a:latin typeface="Cambria"/>
                <a:ea typeface="Cambria"/>
                <a:cs typeface="Cambria"/>
              </a:rPr>
              <a:t>&amp; Tooling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E0B21C5-3270-4926-A2A7-1FA6EA5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/>
            </a:defPPr>
          </a:lstStyle>
          <a:p xmlns:a="http://schemas.openxmlformats.org/drawingml/2006/main">
            <a:pPr>
              <a:defRPr sz="2625"/>
            </a:pPr>
            <a:r>
              <a:rPr sz="2625" b="0">
                <a:solidFill>
                  <a:srgbClr val="E5E7DC"/>
                </a:solidFill>
                <a:latin typeface="Cambria"/>
                <a:ea typeface="Cambria"/>
                <a:cs typeface="Cambria"/>
              </a:rPr>
              <a:t>Ein überprüfbarer Entwicklungsablauf</a:t>
            </a:r>
            <a:br>
              <a:rPr sz="2625" b="0">
                <a:solidFill>
                  <a:srgbClr val="E5E7DC"/>
                </a:solidFill>
                <a:latin typeface="Cambria"/>
                <a:ea typeface="Cambria"/>
                <a:cs typeface="Cambria"/>
              </a:rPr>
            </a:br>
            <a:r>
              <a:rPr sz="2625" b="0">
                <a:solidFill>
                  <a:srgbClr val="E5E7DC"/>
                </a:solidFill>
                <a:latin typeface="Cambria"/>
                <a:ea typeface="Cambria"/>
                <a:cs typeface="Cambria"/>
              </a:rPr>
              <a:t>für das Ultimate KI Setup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B6796E9-48D9-42DD-A1A0-3738365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/>
            </a:defPPr>
          </a:lstStyle>
          <a:p xmlns:a="http://schemas.openxmlformats.org/drawingml/2006/main">
            <a:pPr>
              <a:defRPr sz="1500"/>
            </a:pPr>
            <a:r>
              <a:rPr sz="1500" b="0">
                <a:solidFill>
                  <a:srgbClr val="E5E7DC"/>
                </a:solidFill>
                <a:latin typeface="Consolas"/>
                <a:ea typeface="Consolas"/>
                <a:cs typeface="Consolas"/>
              </a:rPr>
              <a:t>ULTIMATE KI SETUP  /  OKTOBER 2026</a:t>
            </a:r>
          </a:p>
        </p:txBody>
      </p:sp>
    </p:spTree>
    <p:extLst>
      <p:ext uri="{BB962C8B-B14F-4D97-AF65-F5344CB8AC3E}">
        <p14:creationId xmlns:p14="http://schemas.microsoft.com/office/powerpoint/2010/main" val="1074770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FACF302-5C98-4B9E-818C-1075CAD6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Der wiederverwendbare Ablauf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6E4941F-72FE-4458-86A8-FEDA2F7D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01  Auftrag eingrenzen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E4B7CC5-5CF7-4BF2-BB6F-D428940D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Projektordner, Git-Stand und erlaubte Aktionen klären.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CF3E778-25AE-4FF9-B03F-E41B8204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02  Kleinen Patch liefern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94B8181-C29C-4874-8B22-EF65A5C2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Vorhandene Werkzeuge und Tests verwenden.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6BC09EE-68EE-4B70-A972-9D5CF13C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03  Prüfen und berichten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4A270E5-335C-4713-812B-1150685E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Echte Exit-Codes erfassen. Nach drei Korrekturrunden stoppen.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5267895-5CFB-432A-BD93-01F83C94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02  /  13</a:t>
            </a:r>
          </a:p>
        </p:txBody>
      </p:sp>
    </p:spTree>
    <p:extLst>
      <p:ext uri="{BB962C8B-B14F-4D97-AF65-F5344CB8AC3E}">
        <p14:creationId xmlns:p14="http://schemas.microsoft.com/office/powerpoint/2010/main" val="200245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D72C6ABF-9598-4955-9A67-39C8084E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Python und Webentwicklung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8991F51-7162-4CDA-8AB3-9BBD298C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Python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16BE186-9126-4F78-B5A5-1CD0850A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pytest für Verhalten, Black oder Ruff für Formatierung, mypy für Typen.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3017309-6373-4799-9980-B7131BD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JavaScript / TypeScript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715F869-2C32-45FD-91B9-AEEA352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ESLint, Prettier, Vitest und ein passendes Projekt-Lockfile.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D33EA8B-C88F-4F3D-AF0A-5D510A2B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Vorschau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760C555-45F3-4DB0-BD00-9718E2B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Vite auf Loopback; Playwright für vereinbarte Browserprüfungen.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352559A-DA70-414C-85A2-3A98012F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03  /  13</a:t>
            </a:r>
          </a:p>
        </p:txBody>
      </p:sp>
    </p:spTree>
    <p:extLst>
      <p:ext uri="{BB962C8B-B14F-4D97-AF65-F5344CB8AC3E}">
        <p14:creationId xmlns:p14="http://schemas.microsoft.com/office/powerpoint/2010/main" val="954252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5BA17023-BCC5-4293-B155-9A0D36D8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Kompilierte Sprachen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487CB64-F8FA-4E2D-963F-FE185E9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Go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C0B833B-2B3E-458D-9002-85E18D9D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go.mod, vet, Race-Tests und ein nachvollziehbares Binary.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D474BC0-339A-436B-9C13-6B0DB02C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Rust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D64C4D1-E5F8-44F2-85DD-2778106A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Exakte Toolchain, Cargo.lock, rustfmt, Clippy und Tests.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1E2AF13-37FD-499B-A33F-D7776502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C / C++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5BD8924-9EC0-434D-BAF4-98CB2CA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Gewählter Compiler, CMake/CTest und passende Sanitizer.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C7C58A9-FF02-44E7-A567-9BAE2BCB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04  /  13</a:t>
            </a:r>
          </a:p>
        </p:txBody>
      </p:sp>
    </p:spTree>
    <p:extLst>
      <p:ext uri="{BB962C8B-B14F-4D97-AF65-F5344CB8AC3E}">
        <p14:creationId xmlns:p14="http://schemas.microsoft.com/office/powerpoint/2010/main" val="2120640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09A8B87-5BD9-4E41-9FEC-713E98FF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Shells, Daten und Infrastruktur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A19F090-2F8E-4BEB-97C7-BF921858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Bash / PowerShell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EAA6B03-6A94-48F1-850E-066C7848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ShellCheck und Bats; PSScriptAnalyzer und Pester.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9EFBB17-B184-4304-B759-5537A895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SQL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61F8073-958E-4099-9A30-03D7327D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Dialekt, Migrationen und synthetische Testdaten trennen.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91E6E0D-647E-48DC-AD93-8407CECE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Infrastruktur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04DCAB4-C073-4C88-A089-B628250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Manifeste zuerst prüfen. Cloud- und Clusteraktionen separat freigeben.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CB5D707-C3E1-452B-B660-5AE70DD4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05  /  13</a:t>
            </a:r>
          </a:p>
        </p:txBody>
      </p:sp>
    </p:spTree>
    <p:extLst>
      <p:ext uri="{BB962C8B-B14F-4D97-AF65-F5344CB8AC3E}">
        <p14:creationId xmlns:p14="http://schemas.microsoft.com/office/powerpoint/2010/main" val="1653765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9B882506-CD3D-4818-AD9A-D2C41205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Go: CI vor dem Release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F5B5465-E2D1-4B50-B288-04D7809D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7096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pPr>
              <a:defRPr sz="2100"/>
            </a:pP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gofmt  →  Formatprüfung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go mod verify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go vet ./...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go test -race -count=1 ...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go build -trimpath ...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DC45AF0-562A-41A7-B22D-BF69EC27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286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pPr>
              <a:defRPr sz="2100"/>
            </a:pP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Projekt-Go aus go.mod</a:t>
            </a:r>
            <a:b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</a:b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Read-only Repository-Token</a:t>
            </a:r>
            <a:b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</a:b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20 Minuten Joblimit</a:t>
            </a:r>
            <a:b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</a:b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Binary und Coverage als Artefakt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9465428-B34D-4C08-B916-4452FA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06  /  13</a:t>
            </a:r>
          </a:p>
        </p:txBody>
      </p:sp>
    </p:spTree>
    <p:extLst>
      <p:ext uri="{BB962C8B-B14F-4D97-AF65-F5344CB8AC3E}">
        <p14:creationId xmlns:p14="http://schemas.microsoft.com/office/powerpoint/2010/main" val="46334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01F85424-0301-41C5-9095-9592E67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Rust: reproduzierbare Prüfungen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D95DAB1-19F6-4149-AE65-DB72312B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7096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pPr>
              <a:defRPr sz="2100"/>
            </a:pP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rust-toolchain.toml: x.y.z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cargo fmt --all -- --check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cargo clippy --locked ...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cargo test --locked ...</a:t>
            </a:r>
            <a:b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</a:br>
            <a:r>
              <a:rPr sz="2100" b="0">
                <a:solidFill>
                  <a:srgbClr val="173D37"/>
                </a:solidFill>
                <a:latin typeface="Consolas"/>
                <a:ea typeface="Consolas"/>
                <a:cs typeface="Consolas"/>
              </a:rPr>
              <a:t>cargo build --locked --release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965691A-1645-4EBF-844B-9CAE492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2861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/>
            </a:defPPr>
          </a:lstStyle>
          <a:p xmlns:a="http://schemas.openxmlformats.org/drawingml/2006/main">
            <a:pPr>
              <a:defRPr sz="2100"/>
            </a:pP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Genaues Toolchain-Pin</a:t>
            </a:r>
            <a:b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</a:b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Cargo.lock im Projekt</a:t>
            </a:r>
            <a:b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</a:b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Keine blinde all-features-Matrix</a:t>
            </a:r>
            <a:b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</a:br>
            <a:r>
              <a:rPr sz="2100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Release-Binary als Artefakt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1F590DC-F674-4640-A442-1B826CB0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07  /  13</a:t>
            </a:r>
          </a:p>
        </p:txBody>
      </p:sp>
    </p:spTree>
    <p:extLst>
      <p:ext uri="{BB962C8B-B14F-4D97-AF65-F5344CB8AC3E}">
        <p14:creationId xmlns:p14="http://schemas.microsoft.com/office/powerpoint/2010/main" val="1236271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EEE15E75-278D-43EC-90B6-CF0B98FE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Manuell freigegebener Image-Release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99E41C7-4F78-4CAE-9D6C-35A4CBA9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Eingang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DD6C495-99A1-4053-8C75-717FAC78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Nur main, manueller Aufruf und aktiviertes Release-Tor.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C331287-A536-4242-AC5B-8876F7B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Prüfung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885DC3A-A7CA-4375-A2C3-3E02AEA8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Go-CI erneut ausführen; geschütztes Environment abwarten.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26B60D6-B409-4D1B-9D90-CA5BEEF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Ausgabe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6AE0C07-9DF7-476A-9162-42D65F6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Image nach GHCR, Digest im Bericht. Kein Kubernetes-Rollout.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B29E230-4831-4376-B3ED-BE1A8B55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08  /  13</a:t>
            </a:r>
          </a:p>
        </p:txBody>
      </p:sp>
    </p:spTree>
    <p:extLst>
      <p:ext uri="{BB962C8B-B14F-4D97-AF65-F5344CB8AC3E}">
        <p14:creationId xmlns:p14="http://schemas.microsoft.com/office/powerpoint/2010/main" val="190639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60078233-7993-416D-A38A-04466237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Container als Auslieferungsformat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E119333-33EB-43FD-9EEB-4976C3E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Kleines Laufzeitimage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5454D18-7595-4547-88E1-86931E85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Multi-Stage-Build, geprüfte Basis-Digests, Non-Root-Nutzer.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62B332A-929E-4C29-B95C-F913DA1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Kontrollierter Inhalt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3ACADCC-DD46-4377-B8E5-5ECF0C1D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Kein .env, Wallet oder privater Datenbestand im Build-Kontext.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FD3D854-F4EF-4328-9E1F-42E3CBC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Nachweis zum Digest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7D810C6-2077-4C15-B8FD-CA6B02A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Image testen und scannen; SBOM und Provenance zuordnen.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D5AA01C-335F-4900-93D1-3786BCD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09  /  13</a:t>
            </a:r>
          </a:p>
        </p:txBody>
      </p:sp>
    </p:spTree>
    <p:extLst>
      <p:ext uri="{BB962C8B-B14F-4D97-AF65-F5344CB8AC3E}">
        <p14:creationId xmlns:p14="http://schemas.microsoft.com/office/powerpoint/2010/main" val="153900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04AF9978-2197-4EFD-AF4C-39D96EA2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Kubernetes mit eingeschränkten Rechten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462D985-510A-4AD3-82F5-265D9490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Pod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3B4BA1D-AB44-4D29-9B5F-916D6D65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Non-Root, read-only Root-FS, keine Zusatz-Capabilities.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223A131-1B7D-4ECF-981C-F01D0024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Betrieb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EF25818-2C7A-4947-BD93-52A7AC62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Requests/Limits sowie getrennte Startup-, Readiness- und Liveness-Probes.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D52AF48-AFED-47C9-9DC6-90BDF233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Netz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606539D-86C9-4DED-B6E9-97A3691B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ClusterIP und gezielte NetworkPolicy statt öffentlicher Ports.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4F46936-571B-4C7F-A4C9-DD5CD303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10  /  13</a:t>
            </a:r>
          </a:p>
        </p:txBody>
      </p:sp>
    </p:spTree>
    <p:extLst>
      <p:ext uri="{BB962C8B-B14F-4D97-AF65-F5344CB8AC3E}">
        <p14:creationId xmlns:p14="http://schemas.microsoft.com/office/powerpoint/2010/main" val="15859900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78B0188-4807-41FA-87B9-27D7608C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Agentenrollen und Freigaben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891D55A-22D6-4508-8589-6AD35D7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Jarvis / OpenClaw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C3C27FA-D8F0-4E70-8E7C-8C038165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Abgegrenzte Aufgaben und freigegebene Queue koordinieren.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D97A80E-CBBB-4DDA-8C51-71CF209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Lokaler Coder / gewählte CLI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A45398E-A505-44C9-AD08-7122D70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Patch, vereinbarte Tests und Ergebnisbericht liefern.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889B642-4305-459D-B39F-224716D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Automaton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464CB64-8225-4B74-B836-EB43E024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Gleiche Grenzen: keine implizite Wallet, Replikation oder Autoinstallation.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79E4743-F0CF-4538-9373-048A51F4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11  /  13</a:t>
            </a:r>
          </a:p>
        </p:txBody>
      </p:sp>
    </p:spTree>
    <p:extLst>
      <p:ext uri="{BB962C8B-B14F-4D97-AF65-F5344CB8AC3E}">
        <p14:creationId xmlns:p14="http://schemas.microsoft.com/office/powerpoint/2010/main" val="312733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0B927427-A456-4209-BE60-95791AC9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Quellen und Lizenzgrenzen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0E44D7E-DD91-46A5-8089-1E53AFBA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Offizielle Werkzeugquellen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04AC049-CF2E-4F3C-93E5-6849CE7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Kein Beleg für die interne Manus-Architektur.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29DD787-4E03-4865-91A3-62D81E64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Lizenzen am Pin prüfen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495E22D-BEB8-47CC-A068-ECCA469B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Terraform Business Source License ist nicht Catch2 Boost License.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B99E67B-101F-4BFC-970E-D620F8B6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Prüflücken offenhalten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DFBFD87-A7EE-4632-BF54-C82C7BC1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Einige Metadatenabfragen waren begrenzt; keine pauschale Freigabe.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27D10DB-2A8E-447C-AB61-02301CAA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12  /  13</a:t>
            </a:r>
          </a:p>
        </p:txBody>
      </p:sp>
    </p:spTree>
    <p:extLst>
      <p:ext uri="{BB962C8B-B14F-4D97-AF65-F5344CB8AC3E}">
        <p14:creationId xmlns:p14="http://schemas.microsoft.com/office/powerpoint/2010/main" val="768114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A7528244-E9F5-447C-BF95-C75CAC6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"/>
            <a:ext cx="10715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/>
            </a:defPPr>
          </a:lstStyle>
          <a:p xmlns:a="http://schemas.openxmlformats.org/drawingml/2006/main">
            <a:pPr>
              <a:defRPr sz="3525"/>
            </a:pPr>
            <a:r>
              <a:rPr sz="3525" b="1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Nächste Schritte im Zielprojekt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D1DA595-5EDA-47DB-AA58-9E5C96AE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1  Skill bewusst verwenden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14BEDCA-1203-4085-90D7-A2A52658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Ordner, Aufgabe und erlaubte Checks festlegen.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8A76789-6962-420A-B4D2-CFAC8728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2  Eine CI-Vorlage anpassen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988EE53-5E19-4C9B-B4D5-277FB11A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Paketpfade, Toolchain und echte Ergebnisse prüfen.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2482510-FD01-4DB7-885D-82DA19E1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/>
            </a:defPPr>
          </a:lstStyle>
          <a:p xmlns:a="http://schemas.openxmlformats.org/drawingml/2006/main">
            <a:pPr>
              <a:defRPr sz="2325"/>
            </a:pPr>
            <a:r>
              <a:rPr sz="2325" b="1">
                <a:solidFill>
                  <a:srgbClr val="173D37"/>
                </a:solidFill>
                <a:latin typeface="Cambria"/>
                <a:ea typeface="Cambria"/>
                <a:cs typeface="Cambria"/>
              </a:rPr>
              <a:t>3  Release separat freigeben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9477A39-D131-463B-A641-FBB4CE8D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/>
            </a:defPPr>
          </a:lstStyle>
          <a:p xmlns:a="http://schemas.openxmlformats.org/drawingml/2006/main">
            <a:pPr>
              <a:defRPr sz="2175"/>
            </a:pPr>
            <a:r>
              <a:rPr sz="2175" b="0">
                <a:solidFill>
                  <a:srgbClr val="202927"/>
                </a:solidFill>
                <a:latin typeface="Cambria"/>
                <a:ea typeface="Cambria"/>
                <a:cs typeface="Cambria"/>
              </a:rPr>
              <a:t>Erst Image-Digest, dann geprüfter Manifest-/GitOps-Review.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B0C4FB0-E10B-4C27-AB1D-B4E5514B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/>
            </a:defPPr>
          </a:lstStyle>
          <a:p xmlns:a="http://schemas.openxmlformats.org/drawingml/2006/main">
            <a:pPr>
              <a:defRPr sz="1275"/>
            </a:pPr>
            <a:r>
              <a:rPr sz="1275" b="0">
                <a:solidFill>
                  <a:srgbClr val="59645E"/>
                </a:solidFill>
                <a:latin typeface="Consolas"/>
                <a:ea typeface="Consolas"/>
                <a:cs typeface="Consolas"/>
              </a:rPr>
              <a:t>13  /  13</a:t>
            </a:r>
          </a:p>
        </p:txBody>
      </p:sp>
    </p:spTree>
    <p:extLst>
      <p:ext uri="{BB962C8B-B14F-4D97-AF65-F5344CB8AC3E}">
        <p14:creationId xmlns:p14="http://schemas.microsoft.com/office/powerpoint/2010/main" val="924301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2026-10-21T02:32:53.1920000Z</dcterms:created>
  <dcterms:modified xsi:type="dcterms:W3CDTF">2026-10-21T02:32:53.1920000Z</dcterms:modified>
</coreProperties>
</file>